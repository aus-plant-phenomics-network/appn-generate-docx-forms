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0" r:id="rId5"/>
    <p:sldMasterId id="2147483691" r:id="rId6"/>
    <p:sldMasterId id="2147483717" r:id="rId7"/>
    <p:sldMasterId id="2147483719" r:id="rId8"/>
  </p:sldMasterIdLst>
  <p:notesMasterIdLst>
    <p:notesMasterId r:id="rId14"/>
  </p:notesMasterIdLst>
  <p:sldIdLst>
    <p:sldId id="1047" r:id="rId9"/>
    <p:sldId id="1048" r:id="rId10"/>
    <p:sldId id="1049" r:id="rId11"/>
    <p:sldId id="1050" r:id="rId12"/>
    <p:sldId id="1051" r:id="rId13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" id="{CF5C1B72-7267-4850-AB43-2D18628D3C06}">
          <p14:sldIdLst/>
        </p14:section>
        <p14:section name="Presentation" id="{9B720C36-7987-4AD5-A921-D55FD816DBAE}">
          <p14:sldIdLst>
            <p14:sldId id="1047"/>
            <p14:sldId id="1048"/>
            <p14:sldId id="1049"/>
            <p14:sldId id="1050"/>
            <p14:sldId id="1051"/>
          </p14:sldIdLst>
        </p14:section>
        <p14:section name="Closing Slide" id="{08A0F5EB-04AC-4F50-BFB5-060D7865EE6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83D"/>
    <a:srgbClr val="2B3A06"/>
    <a:srgbClr val="586770"/>
    <a:srgbClr val="D0DEBB"/>
    <a:srgbClr val="658D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15" autoAdjust="0"/>
    <p:restoredTop sz="94726"/>
  </p:normalViewPr>
  <p:slideViewPr>
    <p:cSldViewPr snapToGrid="0">
      <p:cViewPr varScale="1">
        <p:scale>
          <a:sx n="84" d="100"/>
          <a:sy n="84" d="100"/>
        </p:scale>
        <p:origin x="72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5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2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290CF7-662E-4B4B-9637-E24B33A9C790}" type="datetimeFigureOut">
              <a:rPr lang="en-AU" smtClean="0"/>
              <a:t>25/03/2026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3EB41-8B25-4B03-9CEA-269D4D6CDA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0727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1674C18-DAFB-FC01-C7D9-A8B37044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619613"/>
          </a:xfrm>
          <a:prstGeom prst="rect">
            <a:avLst/>
          </a:prstGeom>
        </p:spPr>
        <p:txBody>
          <a:bodyPr/>
          <a:lstStyle>
            <a:lvl1pPr>
              <a:defRPr sz="3300" b="1">
                <a:solidFill>
                  <a:srgbClr val="658D1B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257ABE3-3407-DCDB-C497-BDF64ED64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385"/>
            <a:ext cx="10515600" cy="43961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670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2ECF7-5D4C-6EE0-338E-E33978140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1CD720-C818-52C0-E999-D3834B168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11179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72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 (GRDC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034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486CB94A-5FC2-7126-14A6-D7B1940E44A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14" y="0"/>
            <a:ext cx="12186586" cy="686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23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C3BD88E-DBA6-6932-CA45-A8FDD690C57E}"/>
              </a:ext>
            </a:extLst>
          </p:cNvPr>
          <p:cNvSpPr txBox="1"/>
          <p:nvPr/>
        </p:nvSpPr>
        <p:spPr>
          <a:xfrm>
            <a:off x="6465659" y="782231"/>
            <a:ext cx="482474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100" b="1" dirty="0">
                <a:solidFill>
                  <a:srgbClr val="658D1B"/>
                </a:solidFill>
                <a:latin typeface="Myriad Pro" panose="020B0503030403020204" pitchFamily="34" charset="0"/>
              </a:rPr>
              <a:t>Title to go here</a:t>
            </a:r>
          </a:p>
          <a:p>
            <a:pPr algn="r"/>
            <a:r>
              <a:rPr lang="en-US" sz="3100" b="1" dirty="0">
                <a:solidFill>
                  <a:srgbClr val="658D1B"/>
                </a:solidFill>
                <a:latin typeface="Myriad Pro" panose="020B0503030403020204" pitchFamily="34" charset="0"/>
              </a:rPr>
              <a:t>and continue over</a:t>
            </a:r>
          </a:p>
        </p:txBody>
      </p:sp>
      <p:pic>
        <p:nvPicPr>
          <p:cNvPr id="3" name="Picture 2" descr="A close-up of a blue wall">
            <a:extLst>
              <a:ext uri="{FF2B5EF4-FFF2-40B4-BE49-F238E27FC236}">
                <a16:creationId xmlns:a16="http://schemas.microsoft.com/office/drawing/2014/main" id="{E5B1D1EB-9FE5-9C60-ED77-6AF1CB8EF0E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583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4686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9DAE9DA8-9D6C-F5A7-4CF8-B93AE10A9F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46" y="0"/>
            <a:ext cx="121803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28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D004D4E-9CC4-A8C2-9A19-B6916957D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484" y="703371"/>
            <a:ext cx="4479516" cy="49022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5D0ADD-5380-9ECA-2F20-8C9C6E642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703371"/>
            <a:ext cx="10515600" cy="619613"/>
          </a:xfrm>
        </p:spPr>
        <p:txBody>
          <a:bodyPr/>
          <a:lstStyle/>
          <a:p>
            <a:r>
              <a:rPr lang="en-AU" dirty="0"/>
              <a:t>Booking forms – Microsoft </a:t>
            </a:r>
            <a:r>
              <a:rPr lang="en-AU" i="1" dirty="0"/>
              <a:t>docx</a:t>
            </a:r>
            <a:r>
              <a:rPr lang="en-AU" dirty="0"/>
              <a:t> 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15DF2-BCEB-27E1-4340-780D12353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39" y="1448669"/>
            <a:ext cx="7606849" cy="3223539"/>
          </a:xfrm>
        </p:spPr>
        <p:txBody>
          <a:bodyPr/>
          <a:lstStyle/>
          <a:p>
            <a:r>
              <a:rPr lang="en-AU" sz="2400" dirty="0"/>
              <a:t>Docx form-based booking sheets can provide structured data input </a:t>
            </a:r>
            <a:r>
              <a:rPr lang="en-AU" sz="2400" i="1" dirty="0"/>
              <a:t>and</a:t>
            </a:r>
            <a:r>
              <a:rPr lang="en-AU" sz="2400" dirty="0"/>
              <a:t> output </a:t>
            </a:r>
          </a:p>
          <a:p>
            <a:endParaRPr lang="en-AU" sz="2400" dirty="0"/>
          </a:p>
          <a:p>
            <a:r>
              <a:rPr lang="en-AU" sz="2400" dirty="0"/>
              <a:t>We have a demonstration of a document generation tool:</a:t>
            </a:r>
          </a:p>
          <a:p>
            <a:pPr lvl="1"/>
            <a:r>
              <a:rPr lang="en-AU" sz="2000" dirty="0"/>
              <a:t>Accepts YAML based field definitions </a:t>
            </a:r>
          </a:p>
          <a:p>
            <a:pPr lvl="1"/>
            <a:r>
              <a:rPr lang="en-AU" sz="2000" dirty="0"/>
              <a:t>Outputs a MS Word docx file</a:t>
            </a:r>
          </a:p>
          <a:p>
            <a:pPr lvl="1"/>
            <a:r>
              <a:rPr lang="en-AU" sz="2000" dirty="0"/>
              <a:t>Input data can be extracted via automated methods (Python)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4614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8953B-641F-2D8A-BA86-BD4FD8718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On demand or batch creation of booking forms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D8533B-FAD1-B9EC-2028-715EE6B18A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4777" y="1411556"/>
            <a:ext cx="3849540" cy="40348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AD37D2-C3C9-A574-0DDC-C8726B0CDDAF}"/>
              </a:ext>
            </a:extLst>
          </p:cNvPr>
          <p:cNvSpPr txBox="1"/>
          <p:nvPr/>
        </p:nvSpPr>
        <p:spPr>
          <a:xfrm>
            <a:off x="936904" y="5557350"/>
            <a:ext cx="3245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YAML based description of required fields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625793-E55D-1E33-51E0-7F51D3242DB4}"/>
              </a:ext>
            </a:extLst>
          </p:cNvPr>
          <p:cNvCxnSpPr/>
          <p:nvPr/>
        </p:nvCxnSpPr>
        <p:spPr>
          <a:xfrm>
            <a:off x="4784942" y="3569918"/>
            <a:ext cx="11022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1719B8AD-9ED9-016C-7471-AE0B6CFE6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288" y="1411556"/>
            <a:ext cx="5897413" cy="38394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0D8A209-CB38-032B-C145-BF9C0F6C86BF}"/>
              </a:ext>
            </a:extLst>
          </p:cNvPr>
          <p:cNvSpPr txBox="1"/>
          <p:nvPr/>
        </p:nvSpPr>
        <p:spPr>
          <a:xfrm>
            <a:off x="7089271" y="5557350"/>
            <a:ext cx="3245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MS Word based form</a:t>
            </a:r>
          </a:p>
        </p:txBody>
      </p:sp>
    </p:spTree>
    <p:extLst>
      <p:ext uri="{BB962C8B-B14F-4D97-AF65-F5344CB8AC3E}">
        <p14:creationId xmlns:p14="http://schemas.microsoft.com/office/powerpoint/2010/main" val="4177763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4D9C2-3BC6-B658-BB5A-4E2D3CBF1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User fills form and sends to node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ED8266-F123-E598-2484-A68DED595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68" y="1502189"/>
            <a:ext cx="5558532" cy="37137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21C9E2-9AB3-DDE3-1FB0-091F2BC36CFF}"/>
              </a:ext>
            </a:extLst>
          </p:cNvPr>
          <p:cNvSpPr txBox="1"/>
          <p:nvPr/>
        </p:nvSpPr>
        <p:spPr>
          <a:xfrm>
            <a:off x="658368" y="5215968"/>
            <a:ext cx="54376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User filled and saved form is sent to node business manager. The study is accepted and entered in the Node schedule.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07E035F-AE5F-D27E-ACE6-50742C40FA89}"/>
              </a:ext>
            </a:extLst>
          </p:cNvPr>
          <p:cNvCxnSpPr>
            <a:cxnSpLocks/>
          </p:cNvCxnSpPr>
          <p:nvPr/>
        </p:nvCxnSpPr>
        <p:spPr>
          <a:xfrm>
            <a:off x="6344433" y="3858016"/>
            <a:ext cx="12877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E2185F-D699-7917-1753-87AD76CDA88B}"/>
              </a:ext>
            </a:extLst>
          </p:cNvPr>
          <p:cNvSpPr txBox="1"/>
          <p:nvPr/>
        </p:nvSpPr>
        <p:spPr>
          <a:xfrm>
            <a:off x="7880625" y="4754303"/>
            <a:ext cx="41396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Study completed. Data and booking form are stored together ready for APPN data packaging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3176E30-6E23-465D-360A-DD86A75AC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0625" y="2356643"/>
            <a:ext cx="3569333" cy="2379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614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AAA34-1FD2-594C-B64F-9FFB3E530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79106-A090-61C1-EF41-32234DA9E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3200" dirty="0"/>
              <a:t>The form data is available for automated metadata retrieval.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64F6DA-0CA3-07AC-EDC1-B7487C13B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68" y="1660685"/>
            <a:ext cx="5558532" cy="37137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14531E-9ADA-A4CE-ADCE-BB4175CDE8C6}"/>
              </a:ext>
            </a:extLst>
          </p:cNvPr>
          <p:cNvSpPr txBox="1"/>
          <p:nvPr/>
        </p:nvSpPr>
        <p:spPr>
          <a:xfrm>
            <a:off x="1302707" y="5441891"/>
            <a:ext cx="3686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Form fields can be extracted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1185B08-3448-1CF6-B31C-A928DDFC7918}"/>
              </a:ext>
            </a:extLst>
          </p:cNvPr>
          <p:cNvCxnSpPr/>
          <p:nvPr/>
        </p:nvCxnSpPr>
        <p:spPr>
          <a:xfrm>
            <a:off x="6325644" y="3532340"/>
            <a:ext cx="11022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FD5E6DD-3BFF-8E4A-437C-33A25AF52101}"/>
              </a:ext>
            </a:extLst>
          </p:cNvPr>
          <p:cNvSpPr txBox="1"/>
          <p:nvPr/>
        </p:nvSpPr>
        <p:spPr>
          <a:xfrm>
            <a:off x="7202412" y="5294323"/>
            <a:ext cx="47002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JSON data extracted from the booking form and used to populate RO-Crate metadata record.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C0DD5E-E672-E886-CBC4-C5340C0F1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0417" y="1531776"/>
            <a:ext cx="2787439" cy="3713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303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FC1E2-25B5-8304-7DCC-7BC142065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Further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CA3BA-2912-F2BA-1958-FE0CFCD4F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Test forms with unsupported data – how can users break them?</a:t>
            </a:r>
          </a:p>
          <a:p>
            <a:r>
              <a:rPr lang="en-AU" dirty="0"/>
              <a:t>Creation of data capture classes that follow the YAML schema and output RO-Crate JSON metadata records.</a:t>
            </a:r>
          </a:p>
          <a:p>
            <a:r>
              <a:rPr lang="en-AU" dirty="0"/>
              <a:t>Integrate Node vocabularies into YAML templates.</a:t>
            </a:r>
          </a:p>
          <a:p>
            <a:r>
              <a:rPr lang="en-AU" dirty="0"/>
              <a:t>Use of docx metadata capture on a real dataset</a:t>
            </a:r>
          </a:p>
          <a:p>
            <a:pPr lvl="1"/>
            <a:r>
              <a:rPr lang="en-AU" dirty="0"/>
              <a:t>See if whole workflow for creation of RO-Crate annotated data can be simulated using new booking sheet (Xray-CT example dataset)</a:t>
            </a:r>
          </a:p>
        </p:txBody>
      </p:sp>
    </p:spTree>
    <p:extLst>
      <p:ext uri="{BB962C8B-B14F-4D97-AF65-F5344CB8AC3E}">
        <p14:creationId xmlns:p14="http://schemas.microsoft.com/office/powerpoint/2010/main" val="2791380349"/>
      </p:ext>
    </p:extLst>
  </p:cSld>
  <p:clrMapOvr>
    <a:masterClrMapping/>
  </p:clrMapOvr>
</p:sld>
</file>

<file path=ppt/theme/theme1.xml><?xml version="1.0" encoding="utf-8"?>
<a:theme xmlns:a="http://schemas.openxmlformats.org/drawingml/2006/main" name="4_APPN Final">
  <a:themeElements>
    <a:clrScheme name="APPN">
      <a:dk1>
        <a:srgbClr val="64901E"/>
      </a:dk1>
      <a:lt1>
        <a:srgbClr val="333F48"/>
      </a:lt1>
      <a:dk2>
        <a:srgbClr val="EBEBEB"/>
      </a:dk2>
      <a:lt2>
        <a:srgbClr val="586770"/>
      </a:lt2>
      <a:accent1>
        <a:srgbClr val="6F901E"/>
      </a:accent1>
      <a:accent2>
        <a:srgbClr val="A9C47F"/>
      </a:accent2>
      <a:accent3>
        <a:srgbClr val="D0DEBB"/>
      </a:accent3>
      <a:accent4>
        <a:srgbClr val="306FBC"/>
      </a:accent4>
      <a:accent5>
        <a:srgbClr val="9ACCD3"/>
      </a:accent5>
      <a:accent6>
        <a:srgbClr val="DB6116"/>
      </a:accent6>
      <a:hlink>
        <a:srgbClr val="306FBC"/>
      </a:hlink>
      <a:folHlink>
        <a:srgbClr val="586770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PPN Final" id="{1FCF9AFC-ADE2-4ABE-8705-9BDB513BB7B8}" vid="{C9725401-6187-4909-B386-8F8B2A931B6F}"/>
    </a:ext>
  </a:extLst>
</a:theme>
</file>

<file path=ppt/theme/theme2.xml><?xml version="1.0" encoding="utf-8"?>
<a:theme xmlns:a="http://schemas.openxmlformats.org/drawingml/2006/main" name="Head Office Title Slide">
  <a:themeElements>
    <a:clrScheme name="APPN">
      <a:dk1>
        <a:srgbClr val="64901E"/>
      </a:dk1>
      <a:lt1>
        <a:srgbClr val="333F48"/>
      </a:lt1>
      <a:dk2>
        <a:srgbClr val="EBEBEB"/>
      </a:dk2>
      <a:lt2>
        <a:srgbClr val="586770"/>
      </a:lt2>
      <a:accent1>
        <a:srgbClr val="6F901E"/>
      </a:accent1>
      <a:accent2>
        <a:srgbClr val="A9C47F"/>
      </a:accent2>
      <a:accent3>
        <a:srgbClr val="D0DEBB"/>
      </a:accent3>
      <a:accent4>
        <a:srgbClr val="306FBC"/>
      </a:accent4>
      <a:accent5>
        <a:srgbClr val="9ACCD3"/>
      </a:accent5>
      <a:accent6>
        <a:srgbClr val="DB6116"/>
      </a:accent6>
      <a:hlink>
        <a:srgbClr val="306FBC"/>
      </a:hlink>
      <a:folHlink>
        <a:srgbClr val="58677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b Head Office Title Froame">
  <a:themeElements>
    <a:clrScheme name="APPN">
      <a:dk1>
        <a:srgbClr val="64901E"/>
      </a:dk1>
      <a:lt1>
        <a:srgbClr val="333F48"/>
      </a:lt1>
      <a:dk2>
        <a:srgbClr val="EBEBEB"/>
      </a:dk2>
      <a:lt2>
        <a:srgbClr val="586770"/>
      </a:lt2>
      <a:accent1>
        <a:srgbClr val="6F901E"/>
      </a:accent1>
      <a:accent2>
        <a:srgbClr val="A9C47F"/>
      </a:accent2>
      <a:accent3>
        <a:srgbClr val="D0DEBB"/>
      </a:accent3>
      <a:accent4>
        <a:srgbClr val="306FBC"/>
      </a:accent4>
      <a:accent5>
        <a:srgbClr val="9ACCD3"/>
      </a:accent5>
      <a:accent6>
        <a:srgbClr val="DB6116"/>
      </a:accent6>
      <a:hlink>
        <a:srgbClr val="306FBC"/>
      </a:hlink>
      <a:folHlink>
        <a:srgbClr val="58677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1_APPN Final Slide (GRDC)">
  <a:themeElements>
    <a:clrScheme name="APPN">
      <a:dk1>
        <a:srgbClr val="64901E"/>
      </a:dk1>
      <a:lt1>
        <a:srgbClr val="333F48"/>
      </a:lt1>
      <a:dk2>
        <a:srgbClr val="EBEBEB"/>
      </a:dk2>
      <a:lt2>
        <a:srgbClr val="586770"/>
      </a:lt2>
      <a:accent1>
        <a:srgbClr val="6F901E"/>
      </a:accent1>
      <a:accent2>
        <a:srgbClr val="A9C47F"/>
      </a:accent2>
      <a:accent3>
        <a:srgbClr val="D0DEBB"/>
      </a:accent3>
      <a:accent4>
        <a:srgbClr val="306FBC"/>
      </a:accent4>
      <a:accent5>
        <a:srgbClr val="9ACCD3"/>
      </a:accent5>
      <a:accent6>
        <a:srgbClr val="DB6116"/>
      </a:accent6>
      <a:hlink>
        <a:srgbClr val="306FBC"/>
      </a:hlink>
      <a:folHlink>
        <a:srgbClr val="58677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7b91bca-7c1f-4cb2-9bac-c14b56d58e94">
      <Terms xmlns="http://schemas.microsoft.com/office/infopath/2007/PartnerControls"/>
    </lcf76f155ced4ddcb4097134ff3c332f>
    <TaxCatchAll xmlns="b2ccdccd-44c9-4047-9c28-347bfbb7eb23" xsi:nil="true"/>
    <l544f18d430f4c0886024d9e622455c4 xmlns="b2ccdccd-44c9-4047-9c28-347bfbb7eb23">
      <Terms xmlns="http://schemas.microsoft.com/office/infopath/2007/PartnerControls"/>
    </l544f18d430f4c0886024d9e622455c4>
    <jbe33349d2e04ad58f3e9557e0157918 xmlns="b2ccdccd-44c9-4047-9c28-347bfbb7eb23">
      <Terms xmlns="http://schemas.microsoft.com/office/infopath/2007/PartnerControls"/>
    </jbe33349d2e04ad58f3e9557e0157918>
    <f876555452e44e5798dee990952b63ae xmlns="b2ccdccd-44c9-4047-9c28-347bfbb7eb23">
      <Terms xmlns="http://schemas.microsoft.com/office/infopath/2007/PartnerControls"/>
    </f876555452e44e5798dee990952b63ae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83932531B8074E8FCBA06A7E25DE9D" ma:contentTypeVersion="15" ma:contentTypeDescription="Create a new document." ma:contentTypeScope="" ma:versionID="85701b40b0a6d8d183206c6893737dbc">
  <xsd:schema xmlns:xsd="http://www.w3.org/2001/XMLSchema" xmlns:xs="http://www.w3.org/2001/XMLSchema" xmlns:p="http://schemas.microsoft.com/office/2006/metadata/properties" xmlns:ns2="b2ccdccd-44c9-4047-9c28-347bfbb7eb23" xmlns:ns3="d7b91bca-7c1f-4cb2-9bac-c14b56d58e94" xmlns:ns4="868b1e8d-5a39-4178-a810-7229d5be1aeb" targetNamespace="http://schemas.microsoft.com/office/2006/metadata/properties" ma:root="true" ma:fieldsID="be72cdd685c71755c044a6fa0bbeb625" ns2:_="" ns3:_="" ns4:_="">
    <xsd:import namespace="b2ccdccd-44c9-4047-9c28-347bfbb7eb23"/>
    <xsd:import namespace="d7b91bca-7c1f-4cb2-9bac-c14b56d58e94"/>
    <xsd:import namespace="868b1e8d-5a39-4178-a810-7229d5be1aeb"/>
    <xsd:element name="properties">
      <xsd:complexType>
        <xsd:sequence>
          <xsd:element name="documentManagement">
            <xsd:complexType>
              <xsd:all>
                <xsd:element ref="ns2:l544f18d430f4c0886024d9e622455c4" minOccurs="0"/>
                <xsd:element ref="ns2:TaxCatchAll" minOccurs="0"/>
                <xsd:element ref="ns2:TaxCatchAllLabel" minOccurs="0"/>
                <xsd:element ref="ns2:f876555452e44e5798dee990952b63ae" minOccurs="0"/>
                <xsd:element ref="ns2:jbe33349d2e04ad58f3e9557e0157918" minOccurs="0"/>
                <xsd:element ref="ns3:lcf76f155ced4ddcb4097134ff3c332f" minOccurs="0"/>
                <xsd:element ref="ns3:MediaServiceFastMetadata" minOccurs="0"/>
                <xsd:element ref="ns3:MediaServiceOCR" minOccurs="0"/>
                <xsd:element ref="ns3:MediaServiceDateTaken" minOccurs="0"/>
                <xsd:element ref="ns3:MediaServiceSearchProperties" minOccurs="0"/>
                <xsd:element ref="ns3:MediaServiceLocation" minOccurs="0"/>
                <xsd:element ref="ns3:MediaLengthInSeconds" minOccurs="0"/>
                <xsd:element ref="ns3:MediaServiceMetadata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ccdccd-44c9-4047-9c28-347bfbb7eb23" elementFormDefault="qualified">
    <xsd:import namespace="http://schemas.microsoft.com/office/2006/documentManagement/types"/>
    <xsd:import namespace="http://schemas.microsoft.com/office/infopath/2007/PartnerControls"/>
    <xsd:element name="l544f18d430f4c0886024d9e622455c4" ma:index="8" nillable="true" ma:taxonomy="true" ma:internalName="l544f18d430f4c0886024d9e622455c4" ma:taxonomyFieldName="_AU_Function" ma:displayName="Function" ma:default="" ma:fieldId="{5544f18d-430f-4c08-8602-4d9e622455c4}" ma:sspId="d560fd02-aa12-447b-bf2e-34c9e57d035a" ma:termSetId="db7335c5-3c73-47b5-bcc4-e7dd8432afa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cd8bcd59-08f7-4e23-b577-b67fbd141276}" ma:internalName="TaxCatchAll" ma:showField="CatchAllData" ma:web="868b1e8d-5a39-4178-a810-7229d5be1a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cd8bcd59-08f7-4e23-b577-b67fbd141276}" ma:internalName="TaxCatchAllLabel" ma:readOnly="true" ma:showField="CatchAllDataLabel" ma:web="868b1e8d-5a39-4178-a810-7229d5be1a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f876555452e44e5798dee990952b63ae" ma:index="12" nillable="true" ma:taxonomy="true" ma:internalName="f876555452e44e5798dee990952b63ae" ma:taxonomyFieldName="_AU_Portfolio" ma:displayName="Portfolio" ma:default="" ma:fieldId="{f8765554-52e4-4e57-98de-e990952b63ae}" ma:sspId="d560fd02-aa12-447b-bf2e-34c9e57d035a" ma:termSetId="446fbd05-ded5-4fe0-9074-a855dc0317c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be33349d2e04ad58f3e9557e0157918" ma:index="14" nillable="true" ma:taxonomy="true" ma:internalName="jbe33349d2e04ad58f3e9557e0157918" ma:taxonomyFieldName="_AU_SubFunction" ma:displayName="SubFunction" ma:default="" ma:fieldId="{3be33349-d2e0-4ad5-8f3e-9557e0157918}" ma:sspId="d560fd02-aa12-447b-bf2e-34c9e57d035a" ma:termSetId="20344fde-b4c5-4ddb-9538-84c68c992171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b91bca-7c1f-4cb2-9bac-c14b56d58e94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560fd02-aa12-447b-bf2e-34c9e57d03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Metadata" ma:index="23" nillable="true" ma:displayName="MediaServiceMetadata" ma:hidden="true" ma:internalName="MediaServiceMetadata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2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8b1e8d-5a39-4178-a810-7229d5be1aeb" elementFormDefault="qualified">
    <xsd:import namespace="http://schemas.microsoft.com/office/2006/documentManagement/types"/>
    <xsd:import namespace="http://schemas.microsoft.com/office/infopath/2007/PartnerControls"/>
    <xsd:element name="SharedWithUsers" ma:index="2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haredContentType xmlns="Microsoft.SharePoint.Taxonomy.ContentTypeSync" SourceId="d560fd02-aa12-447b-bf2e-34c9e57d035a" ContentTypeId="0x0101" PreviousValue="false"/>
</file>

<file path=customXml/itemProps1.xml><?xml version="1.0" encoding="utf-8"?>
<ds:datastoreItem xmlns:ds="http://schemas.openxmlformats.org/officeDocument/2006/customXml" ds:itemID="{4CB58F34-B529-488F-A57C-676A2C28E69D}">
  <ds:schemaRefs>
    <ds:schemaRef ds:uri="868b1e8d-5a39-4178-a810-7229d5be1aeb"/>
    <ds:schemaRef ds:uri="http://www.w3.org/XML/1998/namespace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b2ccdccd-44c9-4047-9c28-347bfbb7eb23"/>
    <ds:schemaRef ds:uri="http://schemas.microsoft.com/office/infopath/2007/PartnerControls"/>
    <ds:schemaRef ds:uri="d7b91bca-7c1f-4cb2-9bac-c14b56d58e94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2B4CA784-D39F-4418-8E7B-DE0A4B8207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2B533E-3016-4AEE-A9A2-F011C3807F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ccdccd-44c9-4047-9c28-347bfbb7eb23"/>
    <ds:schemaRef ds:uri="d7b91bca-7c1f-4cb2-9bac-c14b56d58e94"/>
    <ds:schemaRef ds:uri="868b1e8d-5a39-4178-a810-7229d5be1a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C597B65B-BDB3-4430-A049-DD1133DED22F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45942</TotalTime>
  <Words>211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Arial</vt:lpstr>
      <vt:lpstr>Myriad Pro</vt:lpstr>
      <vt:lpstr>4_APPN Final</vt:lpstr>
      <vt:lpstr>Head Office Title Slide</vt:lpstr>
      <vt:lpstr>1b Head Office Title Froame</vt:lpstr>
      <vt:lpstr>1_APPN Final Slide (GRDC)</vt:lpstr>
      <vt:lpstr>Booking forms – Microsoft docx forms</vt:lpstr>
      <vt:lpstr>On demand or batch creation of booking forms</vt:lpstr>
      <vt:lpstr>User fills form and sends to node</vt:lpstr>
      <vt:lpstr>The form data is available for automated metadata retrieval.</vt:lpstr>
      <vt:lpstr>Further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Jane McLean</dc:creator>
  <cp:lastModifiedBy>Joshua Charles Bowden</cp:lastModifiedBy>
  <cp:revision>38</cp:revision>
  <cp:lastPrinted>2025-03-17T04:18:23Z</cp:lastPrinted>
  <dcterms:created xsi:type="dcterms:W3CDTF">2024-04-22T09:13:31Z</dcterms:created>
  <dcterms:modified xsi:type="dcterms:W3CDTF">2026-04-23T05:04:18Z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0x010100A383932531B8074E8FCBA06A7E25DE9D</vt:lpwstr>
  </property>
  <property fmtid="{D5CDD505-2E9C-101B-9397-08002B2CF9AE}" pid="3" name="MediaServiceImageTags">
    <vt:lpwstr/>
  </property>
  <property fmtid="{D5CDD505-2E9C-101B-9397-08002B2CF9AE}" pid="4" name="_AU_Portfolio">
    <vt:lpwstr/>
  </property>
  <property fmtid="{D5CDD505-2E9C-101B-9397-08002B2CF9AE}" pid="5" name="_AU_SubFunction">
    <vt:lpwstr/>
  </property>
  <property fmtid="{D5CDD505-2E9C-101B-9397-08002B2CF9AE}" pid="6" name="_AU_Function">
    <vt:lpwstr/>
  </property>
</Properties>
</file>